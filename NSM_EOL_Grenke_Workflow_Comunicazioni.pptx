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3" r:id="rId6"/>
    <p:sldId id="272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612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9E5C9-1C98-54C0-DD4D-F1A0255CB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CC584-8148-E673-C9FA-F2C91649B4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87D359-7F45-7357-ACE6-CE8FE2A1B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38E50-9971-DEF9-C86C-BD0F3A0548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64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7FB69-DF57-BB8E-A6D2-2B893118A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F57535-D2F5-0068-253A-E08352E14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49F8B-5EB2-5014-1962-55091D8E6B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16419-BFCD-47C7-7D2A-C6B3549B6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8671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EOL Grenke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Comunicazioni, Template Email e Escalation Telefoniche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Smartcom Solutions Srl / Noleggio Su Misura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Maggio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 del progetto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NSM EOL Grenke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Gestione End Of Lease dei contratti FLEX Grenke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Smartcom Solutions, tramite il brand Noleggio Su Misura, gestisce la fase di fine contratto dei leasing FLEX Grenke. Il workflow automatizza comunicazioni, decisioni cliente e pagamenti.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7947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4864" cy="10972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731520" y="23591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critico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Silenzio cliente = perdita DEFINITIVA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Proroga Grenke 6 mesi, poi disintermediazione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1% di silenzio = margine perso irreversibilmente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2286000"/>
            <a:ext cx="37947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4800600" y="2286000"/>
            <a:ext cx="54864" cy="109728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4983480" y="23591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2651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Tasso di non-silenzio &gt; 85% (KPI #1)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Tasso rinnovo &gt; 35%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Tasso riacquisto &gt; 30%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54864" cy="10058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731520" y="36393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funziona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solleciti email progressivi + 3 escalation telefoniche manuali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self-service con 4 opzioni (rinnovo, riacquisto, contatto, restituzione)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riacquisto differito a T-7 (non immediato) per incentivare decisione anticipata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operativa (T-145 / T+30)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NSM EOL Grenke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914400" cy="2377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T-150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45920" y="105156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Grenke invia lettera scadenza al cliente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44168"/>
            <a:ext cx="914400" cy="237744"/>
          </a:xfrm>
          <a:prstGeom prst="rect">
            <a:avLst/>
          </a:prstGeom>
          <a:solidFill>
            <a:srgbClr val="1A3A5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548640" y="13441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T-145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134416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NSM importa lista + invio comunicazione iniziale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636776"/>
            <a:ext cx="914400" cy="23774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548640" y="16367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T-90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163677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Sollecito email 1 (gentile reminder)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1929384"/>
            <a:ext cx="914400" cy="23774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548640" y="19293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T-60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45920" y="192938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Sollecito email 2 (enfasi rinnovo)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221992"/>
            <a:ext cx="914400" cy="23774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548640" y="22219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T-50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45920" y="222199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telefonica 1 (agente)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514600"/>
            <a:ext cx="914400" cy="23774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548640" y="25146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T-45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45920" y="2514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Sollecito email 3 (urgenza)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2807208"/>
            <a:ext cx="914400" cy="23774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548640" y="28072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T-40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45920" y="280720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telefonica 2 (agente)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099816"/>
            <a:ext cx="914400" cy="23774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548640" y="30998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T-35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45920" y="309981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Sollecito email 4 (ULTIMO) + Escalation tel. 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392424"/>
            <a:ext cx="914400" cy="23774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548640" y="33924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T-30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45920" y="33924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decisione (silenzio = perdita)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685032"/>
            <a:ext cx="914400" cy="23774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548640" y="36850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645920" y="368503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Invio link pagamento riacquisto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3977640"/>
            <a:ext cx="914400" cy="237744"/>
          </a:xfrm>
          <a:prstGeom prst="rect">
            <a:avLst/>
          </a:prstGeom>
          <a:solidFill>
            <a:srgbClr val="1A3A5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548640" y="39776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T-20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645920" y="397764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riacquisti a Grenke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4270248"/>
            <a:ext cx="914400" cy="2377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9" name="Text 37"/>
          <p:cNvSpPr/>
          <p:nvPr/>
        </p:nvSpPr>
        <p:spPr>
          <a:xfrm>
            <a:off x="548640" y="4270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645920" y="427024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Scadenza contratto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4562856"/>
            <a:ext cx="914400" cy="237744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/>
          <p:nvPr/>
        </p:nvSpPr>
        <p:spPr>
          <a:xfrm>
            <a:off x="548640" y="45628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645920" y="456285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Trasferimento proprietà a Smartcom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NSM EOL Grenke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BE0E581-F627-8D0F-E3F7-7E135F6CF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92" y="329183"/>
            <a:ext cx="1871544" cy="425609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BA2A789-9C29-380F-8E12-257019DC7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9112" y="1737360"/>
            <a:ext cx="1895023" cy="250088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C3E88CA-70F9-8505-89D0-D6B48F0588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4991" y="1737360"/>
            <a:ext cx="1547090" cy="250088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C368D61-6072-30BF-2FB7-9A37D69EE8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5233" y="1737360"/>
            <a:ext cx="1646824" cy="250088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9609F46-E769-48E8-8903-F381BD600B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3096" y="1701927"/>
            <a:ext cx="1602858" cy="257175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C507100-F501-849B-B897-FCFDD375012E}"/>
              </a:ext>
            </a:extLst>
          </p:cNvPr>
          <p:cNvSpPr txBox="1"/>
          <p:nvPr/>
        </p:nvSpPr>
        <p:spPr>
          <a:xfrm>
            <a:off x="130992" y="0"/>
            <a:ext cx="1848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C</a:t>
            </a:r>
            <a:r>
              <a:rPr lang="en-IT" sz="1400" dirty="0"/>
              <a:t>omunicazione iniziale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621B40-F40A-1EB7-F1B7-6ED2F19B0DF2}"/>
              </a:ext>
            </a:extLst>
          </p:cNvPr>
          <p:cNvSpPr txBox="1"/>
          <p:nvPr/>
        </p:nvSpPr>
        <p:spPr>
          <a:xfrm>
            <a:off x="2057696" y="1403008"/>
            <a:ext cx="9363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Sollecito 1</a:t>
            </a:r>
            <a:endParaRPr lang="en-IT" sz="1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9AA776-6215-4F33-DE94-1286C08863BA}"/>
              </a:ext>
            </a:extLst>
          </p:cNvPr>
          <p:cNvSpPr txBox="1"/>
          <p:nvPr/>
        </p:nvSpPr>
        <p:spPr>
          <a:xfrm>
            <a:off x="3989295" y="1403008"/>
            <a:ext cx="9363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Sollecito 2</a:t>
            </a:r>
            <a:endParaRPr lang="en-IT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CCFF42-95FC-2EFA-19AF-D20651A048AF}"/>
              </a:ext>
            </a:extLst>
          </p:cNvPr>
          <p:cNvSpPr txBox="1"/>
          <p:nvPr/>
        </p:nvSpPr>
        <p:spPr>
          <a:xfrm>
            <a:off x="5545233" y="1403008"/>
            <a:ext cx="9363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Sollecito 3</a:t>
            </a:r>
            <a:endParaRPr lang="en-IT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2253BC4-A0F4-A14F-001A-05EDD781E3D8}"/>
              </a:ext>
            </a:extLst>
          </p:cNvPr>
          <p:cNvSpPr txBox="1"/>
          <p:nvPr/>
        </p:nvSpPr>
        <p:spPr>
          <a:xfrm>
            <a:off x="7303096" y="1403008"/>
            <a:ext cx="9363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Sollecito 4</a:t>
            </a:r>
            <a:endParaRPr lang="en-IT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F740D7-3694-C8C0-548D-4279CBE31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C15A0604-9AC5-5099-AA7E-464A792C71B1}"/>
              </a:ext>
            </a:extLst>
          </p:cNvPr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NSM EOL Grenke</a:t>
            </a:r>
            <a:endParaRPr lang="en-US" sz="9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E3463E-E162-47DD-1FA5-67422BAC2EBC}"/>
              </a:ext>
            </a:extLst>
          </p:cNvPr>
          <p:cNvSpPr txBox="1"/>
          <p:nvPr/>
        </p:nvSpPr>
        <p:spPr>
          <a:xfrm>
            <a:off x="245501" y="270060"/>
            <a:ext cx="15023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C</a:t>
            </a:r>
            <a:r>
              <a:rPr lang="en-IT" sz="1400" dirty="0"/>
              <a:t>onferma rinnovo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D6DC0B-8116-5EB3-0FE7-3CF4EE86ED6E}"/>
              </a:ext>
            </a:extLst>
          </p:cNvPr>
          <p:cNvSpPr txBox="1"/>
          <p:nvPr/>
        </p:nvSpPr>
        <p:spPr>
          <a:xfrm>
            <a:off x="2372489" y="251796"/>
            <a:ext cx="1659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400" dirty="0"/>
              <a:t>Conferma riacquisto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BC074A-AC1D-EB25-2C88-C8154BCB5AA4}"/>
              </a:ext>
            </a:extLst>
          </p:cNvPr>
          <p:cNvSpPr txBox="1"/>
          <p:nvPr/>
        </p:nvSpPr>
        <p:spPr>
          <a:xfrm>
            <a:off x="4304088" y="251796"/>
            <a:ext cx="1461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400" dirty="0"/>
              <a:t>Invito Pagamento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07886BB-CCBF-23EF-4622-96B63C93B262}"/>
              </a:ext>
            </a:extLst>
          </p:cNvPr>
          <p:cNvSpPr txBox="1"/>
          <p:nvPr/>
        </p:nvSpPr>
        <p:spPr>
          <a:xfrm>
            <a:off x="4251623" y="2826107"/>
            <a:ext cx="1086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/>
              <a:t>Sblocco</a:t>
            </a:r>
            <a:r>
              <a:rPr lang="en-GB" sz="1400" dirty="0"/>
              <a:t> Pag.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8BE004-FAE0-EBF2-4D2F-D20C81D3A74F}"/>
              </a:ext>
            </a:extLst>
          </p:cNvPr>
          <p:cNvSpPr txBox="1"/>
          <p:nvPr/>
        </p:nvSpPr>
        <p:spPr>
          <a:xfrm>
            <a:off x="6345034" y="258815"/>
            <a:ext cx="14640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400" dirty="0"/>
              <a:t>Pagamento fallito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0C6CD9-5758-D8B0-1C80-EF4C50A4F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60" y="547144"/>
            <a:ext cx="1943687" cy="29107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499064-F72F-5ADC-6184-82C6A416A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6739" y="547144"/>
            <a:ext cx="2079501" cy="2571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3C2055-16DA-1C16-2276-3811058531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7232" y="547144"/>
            <a:ext cx="1965417" cy="23253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C6F956-544C-314F-59D5-F72FF4858D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6613" y="3128592"/>
            <a:ext cx="1948146" cy="16057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5E31DE-6958-F2E0-0382-4047E4E331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034" y="547144"/>
            <a:ext cx="2141509" cy="20836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595597-26DD-1637-2A7B-3668CB70CF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2116" y="2746573"/>
            <a:ext cx="1490007" cy="21454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2BAA883-CF13-6615-18FB-3FDCFA7F4A57}"/>
              </a:ext>
            </a:extLst>
          </p:cNvPr>
          <p:cNvSpPr txBox="1"/>
          <p:nvPr/>
        </p:nvSpPr>
        <p:spPr>
          <a:xfrm>
            <a:off x="7842123" y="2806765"/>
            <a:ext cx="1052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/>
              <a:t>Conferma</a:t>
            </a:r>
            <a:endParaRPr lang="en-GB" sz="1400" dirty="0"/>
          </a:p>
          <a:p>
            <a:r>
              <a:rPr lang="en-GB" sz="1400" dirty="0" err="1"/>
              <a:t>restituzione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046624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D7B98D-C534-1D03-EB08-A7C89D37C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B725C9-C9FB-B342-D5D8-0E6E9CF8776A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9251B15-3890-A9CE-D317-ED216467607B}"/>
              </a:ext>
            </a:extLst>
          </p:cNvPr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4 opzioni del cliente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70E18F-2B12-297F-E489-D1D4C8EFD674}"/>
              </a:ext>
            </a:extLst>
          </p:cNvPr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NSM EOL Grenke</a:t>
            </a:r>
            <a:endParaRPr lang="en-US" sz="9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EF2791F-3916-91CA-4B54-892E8126C6A6}"/>
              </a:ext>
            </a:extLst>
          </p:cNvPr>
          <p:cNvSpPr/>
          <p:nvPr/>
        </p:nvSpPr>
        <p:spPr>
          <a:xfrm>
            <a:off x="548640" y="1051560"/>
            <a:ext cx="19202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CD76E52-BDE0-F51A-D537-0AE468B44988}"/>
              </a:ext>
            </a:extLst>
          </p:cNvPr>
          <p:cNvSpPr/>
          <p:nvPr/>
        </p:nvSpPr>
        <p:spPr>
          <a:xfrm>
            <a:off x="548640" y="1051560"/>
            <a:ext cx="1920240" cy="5029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5455F42-C771-0276-CE42-D5611B5AE6F9}"/>
              </a:ext>
            </a:extLst>
          </p:cNvPr>
          <p:cNvSpPr/>
          <p:nvPr/>
        </p:nvSpPr>
        <p:spPr>
          <a:xfrm>
            <a:off x="548640" y="10698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Opzione 1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6AC9406-7CCC-C970-AE5B-70E1D405F261}"/>
              </a:ext>
            </a:extLst>
          </p:cNvPr>
          <p:cNvSpPr/>
          <p:nvPr/>
        </p:nvSpPr>
        <p:spPr>
          <a:xfrm>
            <a:off x="548640" y="13075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Consigliata</a:t>
            </a:r>
            <a:endParaRPr lang="en-US" sz="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B24ECB8-EF21-6CD2-1218-1CA06683CD62}"/>
              </a:ext>
            </a:extLst>
          </p:cNvPr>
          <p:cNvSpPr/>
          <p:nvPr/>
        </p:nvSpPr>
        <p:spPr>
          <a:xfrm>
            <a:off x="658368" y="16459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Rinnova con nuovo FLEX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DE733A4-7871-BAC9-911B-DEEECB7DDD7D}"/>
              </a:ext>
            </a:extLst>
          </p:cNvPr>
          <p:cNvSpPr/>
          <p:nvPr/>
        </p:nvSpPr>
        <p:spPr>
          <a:xfrm>
            <a:off x="658368" y="2148840"/>
            <a:ext cx="17007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 contratto su device aggiornato.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card Smartcom proporzionale al margine.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contatta entro 5 gg lavorativi.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78DE087-A03F-09A9-86A8-5FA356AF1F1F}"/>
              </a:ext>
            </a:extLst>
          </p:cNvPr>
          <p:cNvSpPr/>
          <p:nvPr/>
        </p:nvSpPr>
        <p:spPr>
          <a:xfrm>
            <a:off x="2651760" y="1051560"/>
            <a:ext cx="19202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B18DCD2-F7B7-2BEE-A417-2F90EBA49CA9}"/>
              </a:ext>
            </a:extLst>
          </p:cNvPr>
          <p:cNvSpPr/>
          <p:nvPr/>
        </p:nvSpPr>
        <p:spPr>
          <a:xfrm>
            <a:off x="2651760" y="1051560"/>
            <a:ext cx="1920240" cy="502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2DA7C56-693C-2609-C7F5-D52E3163E40C}"/>
              </a:ext>
            </a:extLst>
          </p:cNvPr>
          <p:cNvSpPr/>
          <p:nvPr/>
        </p:nvSpPr>
        <p:spPr>
          <a:xfrm>
            <a:off x="2651760" y="10698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Opzione 2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C9EB563-EE6C-C0FF-BE6B-C471481E1E9C}"/>
              </a:ext>
            </a:extLst>
          </p:cNvPr>
          <p:cNvSpPr/>
          <p:nvPr/>
        </p:nvSpPr>
        <p:spPr>
          <a:xfrm>
            <a:off x="2651760" y="13075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</a:t>
            </a:r>
            <a:endParaRPr lang="en-US" sz="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20B94F6-96DF-8902-727E-B8658746AF60}"/>
              </a:ext>
            </a:extLst>
          </p:cNvPr>
          <p:cNvSpPr/>
          <p:nvPr/>
        </p:nvSpPr>
        <p:spPr>
          <a:xfrm>
            <a:off x="2761488" y="16459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Acquista il bene (riacquisto)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2E7779F-C8B8-A394-7079-4405D94CE9B6}"/>
              </a:ext>
            </a:extLst>
          </p:cNvPr>
          <p:cNvSpPr/>
          <p:nvPr/>
        </p:nvSpPr>
        <p:spPr>
          <a:xfrm>
            <a:off x="2761488" y="2148840"/>
            <a:ext cx="17007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Prezzo: 8% del monte canoni + IVA.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differito a T-7 (non immediato).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 di acconto + saldo a T+11.</a:t>
            </a:r>
            <a:endParaRPr lang="en-US" sz="1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027561E-8210-33DE-DA70-C27F1BFBE2CD}"/>
              </a:ext>
            </a:extLst>
          </p:cNvPr>
          <p:cNvSpPr/>
          <p:nvPr/>
        </p:nvSpPr>
        <p:spPr>
          <a:xfrm>
            <a:off x="4754880" y="1051560"/>
            <a:ext cx="19202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C3954AC-CB1D-AF7F-02C1-0D7B92841EF0}"/>
              </a:ext>
            </a:extLst>
          </p:cNvPr>
          <p:cNvSpPr/>
          <p:nvPr/>
        </p:nvSpPr>
        <p:spPr>
          <a:xfrm>
            <a:off x="4754880" y="1051560"/>
            <a:ext cx="1920240" cy="5029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BE88F7B-1732-E74C-356E-A3757F1D0FA3}"/>
              </a:ext>
            </a:extLst>
          </p:cNvPr>
          <p:cNvSpPr/>
          <p:nvPr/>
        </p:nvSpPr>
        <p:spPr>
          <a:xfrm>
            <a:off x="4754880" y="10698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Opzione 3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2D581BD-F6E5-970F-50DB-DA8A245AC025}"/>
              </a:ext>
            </a:extLst>
          </p:cNvPr>
          <p:cNvSpPr/>
          <p:nvPr/>
        </p:nvSpPr>
        <p:spPr>
          <a:xfrm>
            <a:off x="4754880" y="13075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8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A5B6C89-5F3A-C5E9-79C8-6201C5D04FD7}"/>
              </a:ext>
            </a:extLst>
          </p:cNvPr>
          <p:cNvSpPr/>
          <p:nvPr/>
        </p:nvSpPr>
        <p:spPr>
          <a:xfrm>
            <a:off x="4864608" y="16459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Contatto personalizzato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43DFDCF-8CE5-284A-8C7A-82B44B7C930D}"/>
              </a:ext>
            </a:extLst>
          </p:cNvPr>
          <p:cNvSpPr/>
          <p:nvPr/>
        </p:nvSpPr>
        <p:spPr>
          <a:xfrm>
            <a:off x="4864608" y="2148840"/>
            <a:ext cx="17007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cliente chiede di essere richiamato.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Assegnazione automatica ad agente.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vincolante (no OTP).</a:t>
            </a:r>
            <a:endParaRPr lang="en-US" sz="10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91DB814-EECD-E480-C89F-66210E40F2BE}"/>
              </a:ext>
            </a:extLst>
          </p:cNvPr>
          <p:cNvSpPr/>
          <p:nvPr/>
        </p:nvSpPr>
        <p:spPr>
          <a:xfrm>
            <a:off x="6858000" y="1051560"/>
            <a:ext cx="19202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23F95F8-2938-83BC-780F-54A814DB059E}"/>
              </a:ext>
            </a:extLst>
          </p:cNvPr>
          <p:cNvSpPr/>
          <p:nvPr/>
        </p:nvSpPr>
        <p:spPr>
          <a:xfrm>
            <a:off x="6858000" y="1051560"/>
            <a:ext cx="1920240" cy="5029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83D6404-E7DA-9B1E-4248-F8872E8ABF47}"/>
              </a:ext>
            </a:extLst>
          </p:cNvPr>
          <p:cNvSpPr/>
          <p:nvPr/>
        </p:nvSpPr>
        <p:spPr>
          <a:xfrm>
            <a:off x="6858000" y="10698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Opzione 4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7A6F764-FD70-E51B-DB71-5C9FEFA87D93}"/>
              </a:ext>
            </a:extLst>
          </p:cNvPr>
          <p:cNvSpPr/>
          <p:nvPr/>
        </p:nvSpPr>
        <p:spPr>
          <a:xfrm>
            <a:off x="6858000" y="13075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Residuale</a:t>
            </a:r>
            <a:endParaRPr lang="en-US" sz="8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3D4A562-34FE-BC39-68EF-EAFB2C70CC31}"/>
              </a:ext>
            </a:extLst>
          </p:cNvPr>
          <p:cNvSpPr/>
          <p:nvPr/>
        </p:nvSpPr>
        <p:spPr>
          <a:xfrm>
            <a:off x="6967728" y="16459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Restituisci il bene</a:t>
            </a:r>
            <a:endParaRPr lang="en-US" sz="1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119BD0C-B627-8010-EA28-54C78EF9A44F}"/>
              </a:ext>
            </a:extLst>
          </p:cNvPr>
          <p:cNvSpPr/>
          <p:nvPr/>
        </p:nvSpPr>
        <p:spPr>
          <a:xfrm>
            <a:off x="6967728" y="2148840"/>
            <a:ext cx="17007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 a Grenke con 5 step obbligatori: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Disattiva Find My, reset, check, imballo, spedizione.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91541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Flusso riacquisto — Pagamento differito T-7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NSM EOL Grenke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pagamento NON avviene al momento della decisione ma 7 giorni prima della scadenza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1554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7" name="Shape 5"/>
          <p:cNvSpPr/>
          <p:nvPr/>
        </p:nvSpPr>
        <p:spPr>
          <a:xfrm>
            <a:off x="914400" y="14630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8912" y="201168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conferma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riacquisto (T&amp;C + OTP)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28346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qualsiasi momento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65960" y="2468880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2103120" y="1645920"/>
            <a:ext cx="1554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2651760" y="146304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26517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76272" y="201168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IN_CORSO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76272" y="28346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non richiesto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03320" y="2468880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3840480" y="1645920"/>
            <a:ext cx="1554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4389120" y="146304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43891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13632" y="201168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T-7: Email invito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13632" y="28346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automatico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2468880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5577840" y="1645920"/>
            <a:ext cx="1554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6126480" y="146304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61264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50992" y="201168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paga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(Fabrick / Stripe)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50992" y="28346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 di acconto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78040" y="2468880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7315200" y="1645920"/>
            <a:ext cx="1554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7863840" y="1463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78638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88352" y="201168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T+11: Trasferimento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proprietà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88352" y="28346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 di saldo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731520" y="3886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mancano meno di 7 giorni alla scadenza, il pagamento procede immediatamente come prima. Parametro configurabile in config/timeline.json.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A3D">
              <a:alpha val="60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Comunicazioni al Cliente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template email inviati al Conduttore nelle varie fasi del workflow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Comunicazione iniziale (T-145)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NSM EOL Grenke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email al cliente dopo importazione lista Grenke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864" cy="3200400"/>
          </a:xfrm>
          <a:prstGeom prst="rect">
            <a:avLst/>
          </a:prstGeom>
          <a:solidFill>
            <a:srgbClr val="1A3A5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731520" y="1444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Contenuto email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Oggetto: Il tuo contratto NSM n. [NUM] in scadenza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 le 4 opzioni con colori (verde/blu/giallo/rosso)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Elenco beni del contratto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 riacquisto e valore gift card rinnovo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CTA: bottone "SCEGLI LA TUA OPZIONE" (link JWT)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arancione: senza scelta = proroga 6 mesi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opt-out in footer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54864" cy="32004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4846320" y="1444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 merge (Handlebars)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73736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{{ragione_sociale}} — nome azienda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{{numero_contratto_grenke}} / {{numero_contratto_nsm}}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{{data_scadenza}} — scadenza contratto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{{beni}} — elenco beni con marca/modello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{{valore_gift_card}} — calcolata sul margine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{{pricing_riacquisto}} — 8% del monte canoni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{{deadline_decisione}} — T-30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{{{link_area_cliente}}} / {{{link_opt_out}}}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2-5. Solleciti progressivi (T-90 / T-60 / T-45 / T-35)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NSM EOL Grenke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920240" cy="457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T-90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Sollecito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Gentile reminder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Tono neutro. Riepilogo delle 4 opzioni. CTA blu.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105156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2651760" y="1051560"/>
            <a:ext cx="1920240" cy="4572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2651760" y="1051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T-60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12618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Sollecito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Enfasi rinnovo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201168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verde per il rinnovo con gift card. CTA verde. Le altre opzioni in secondo piano.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4754880" y="1051560"/>
            <a:ext cx="1920240" cy="4572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4754880" y="1051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T-45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12618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Sollecito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Urgenza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01168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arancione deadline. Elenco opzioni conciso. CTA arancione.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105156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6858000" y="1051560"/>
            <a:ext cx="1920240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6858000" y="1051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T-35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12618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Sollecito 4 (ULTIMO)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4944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Ultima possibilita'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9440" y="201168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ROSSO. Box critico proroga 6 mesi. CTA rossa "SCEGLI ORA". Deadline in rosso grassetto.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6-7-11. Email di conferma decisione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NSM EOL Grenke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54864" cy="34747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731520" y="1124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 Rinnovo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Heading: Richiesta di rinnovo ricevuta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 pre-qualificazione: tipo device, quantita', durata, budget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verde con valore gift card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Prossimi passi: agente contatta entro 5 gg lav.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conferma in allegato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54864" cy="3474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474720" y="1124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 Riacquisto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41732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Heading: Pagamento completato con successo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Tabella: netto, IVA 22%, totale, metodo, n. fattura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prossimi passi: fattura SDI + trasferimento T+11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ricevuta in allegato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54864" cy="3474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6217920" y="1124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 Restituzione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41732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Heading: Conferma restituzione beni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 riepilogo contratto e beni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step obbligatori: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Disattiva Find My / Knox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Factory reset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Integrity check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Imballo originale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Spedizione a Smartcom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addebiti se reso non conforme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8-9-10. Email ciclo pagamento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NSM EOL Grenke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54864" cy="3474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731520" y="1124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Invito Pagamento (T-7)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Heading: Completa il riacquisto del bene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Inviata dallo scheduler a T-7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Tabella: prezzo netto, IVA 22%, totale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Elenco beni del contratto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CTA: Procedi con il pagamento (bottone blu)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diretto alla pagina di pagamento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54864" cy="3474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474720" y="1124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Sblocco Pagamento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41732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Heading: Pagamento sbloccato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Inviata dopo chiamata con consulente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clienti che avevano scelto "contattatemi prima"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Messaggio breve e diretto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CTA: Procedi con il pagamento (bottone blu)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alla pagina di pagamento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54864" cy="3474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6217920" y="1124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Fallimento Pagamento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41732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Heading: Pagamento non riuscito (rosso)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rosso con importo e metodo falliti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Conferma: nessun addebito effettuato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CTA: Riprova il pagamento (bottone blu)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per ritentare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A3D">
              <a:alpha val="60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Notifiche interne (Agenti / Backoffice)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template email per agenti NSM e backoffice operativo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12-14. Notifiche agente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NSM EOL Grenke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54864" cy="32004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731520" y="1124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Richiesta contatto (widget)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 interna quando cliente usa il widget "Chiamami"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Tabella: ragione sociale, contratto, referente, telefono, giorno/fascia oraria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canoni visibile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richiamare entro 24h lavorative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54864" cy="32004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474720" y="1124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 rinnovo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41732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 quando cliente sceglie "Rinnova"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Banner: Da contattare entro 5 gg lavorativi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cliente + pre-qualificazione (device, quantita', durata, budget)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 gift card evidenziato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assegnazione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54864" cy="32004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6217920" y="1124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Contatto personalizzato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41732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 quando cliente sceglie Opzione 3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cliente + preferenze di contatto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Fascia oraria e modalita' preferita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libere del cliente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assegnazione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A3D">
              <a:alpha val="60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Escalation telefoniche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livelli di escalation per contrastare il silenzio cliente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 Template escalation telefonica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NSM EOL Grenke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54864" cy="146304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73152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della notifica agente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priorita' dinamico (colore basato su urgenza)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cliente: ragione sociale, referente, telefono cliccabile, email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contratto: numeri NSM/Grenke, scadenza, monte canoni, beni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Storico comunicazioni (loop Handlebars con data, tipo, esito)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54864" cy="1463040"/>
          </a:xfrm>
          <a:prstGeom prst="rect">
            <a:avLst/>
          </a:prstGeom>
          <a:solidFill>
            <a:srgbClr val="1A3A5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484632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di chiamata integrato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standardizzato nel box blu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SOLO su opzioni fine contratto (no derive commerciali)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Coerente con inquadramento GDPR art. 6.1.b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CTA: "APRI IL TASK NEL BACKOFFICE" + link diretto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8046720" cy="15849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Esiti possibili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 assegnato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Pratica in IN_ATTESA_DECISIONE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Risposta positiva / negativa / non raggiunto / richiamare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 assegnato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Ancora in attesa dopo T-50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Capo Area (&gt;5.000 EUR)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Agente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Ancora in attesa dopo T-40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ULTIMO tentativo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 + se negativa/silenzio: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SILENZIO_PERDITA_DEFINITIVA a T-30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Mappa completa: 15 comunicazioni nel workflow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NSM EOL Grenke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3950208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chi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Comunicazione iniziale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Sollecito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Sollecito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Sollecito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Sollecito 4 (ULTIMO)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Conferma rinnovo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Post-scelta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Conferma riacquisto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Post-pagamento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Invito pagamento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Sblocco pagamento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Post-chiamata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Fallimento pagamento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Errore pay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Conferma restituzione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Post-scelta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 richiesta contatto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Widget/Opz.3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 agente rinnovo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Post-scelta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 agente contatto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Post-scelta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 escalation tel.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T-50/40/35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Riepilogo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comunicazioni totali (11 al cliente + 4 interne)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solleciti email con escalation visiva progressiva (blu &gt; verde &gt; arancio &gt; rosso)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escalation telefoniche manuali (T-50, T-40, T-35) con script standardizzato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riacquisto differito a T-7 per incentivare decisione anticipata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#1: tasso di non-silenzio &gt; 85%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Smartcom Solutions Srl / Noleggio Su Misura — Maggio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1547</Words>
  <Application>Microsoft Macintosh PowerPoint</Application>
  <PresentationFormat>On-screen Show (16:9)</PresentationFormat>
  <Paragraphs>341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NSM EOL Grenke — Workflow Comunicazioni</dc:title>
  <dc:subject>PptxGenJS Presentation</dc:subject>
  <dc:creator>Gian Luca Ciardo — Smartcom Solutions Srl</dc:creator>
  <cp:lastModifiedBy>Gian Luca Ciardo</cp:lastModifiedBy>
  <cp:revision>2</cp:revision>
  <dcterms:created xsi:type="dcterms:W3CDTF">2026-05-19T09:26:52Z</dcterms:created>
  <dcterms:modified xsi:type="dcterms:W3CDTF">2026-05-19T12:59:03Z</dcterms:modified>
</cp:coreProperties>
</file>